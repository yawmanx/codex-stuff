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Systematic Approach to</a:t>
            </a:r>
            <a:br/>
            <a:r>
              <a:t>Diagnosing Anemia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 Comprehensive Clinical Guide</a:t>
            </a:r>
            <a:br/>
            <a:r>
              <a:t>2024-2025 Updated Guidelines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Define anemia and understand WHO diagnostic criteria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Apply a systematic MCV-based approach to anemia diagnosis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Interpret key laboratory findings in anemia workup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Differentiate between common causes of anemia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Recognize indications for specialist referral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Understand the reticulocyte-based kinetic approach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Apply diagnostic algorithms to clinical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Definition of Anemia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Reduction in hemoglobin (Hb), hematocrit (Hct), or RBC count below normal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WHO Criteria for Anemia: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Adult males: Hb &lt; 13 g/dL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Adult females (non-pregnant): Hb &lt; 12 g/dL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Pregnant women: Hb &lt; 11 g/dL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Children (6 months - 5 years): Hb &lt; 11 g/dL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Children (5-12 years): Hb &lt; 11.5 g/dL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Anemia reflects an underlying disease process - not a diagnosis itself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Must consider patient's baseline and clinical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Epidemiology &amp; Global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Affects ~1.8 billion people globally (WHO 2023 data)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Most common hematologic disorder worldwide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Iron deficiency anemia: Most prevalent cause globally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Higher prevalence in developing countries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Risk groups: Women of reproductive age, children, elderly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Associated with increased morbidity and mortality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Significant economic burden on healthcare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1</a:t>
            </a:r>
            <a:br/>
            <a:r>
              <a:t>Clinical Assessment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Clinical Presentation of Anemia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General Symptoms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Fatigue and weakness</a:t>
            </a:r>
          </a:p>
          <a:p>
            <a:pPr>
              <a:spcAft>
                <a:spcPts val="800"/>
              </a:spcAft>
              <a:defRPr sz="1700"/>
            </a:pPr>
            <a:r>
              <a:t>• Dyspnea on exertion</a:t>
            </a:r>
          </a:p>
          <a:p>
            <a:pPr>
              <a:spcAft>
                <a:spcPts val="800"/>
              </a:spcAft>
              <a:defRPr sz="1700"/>
            </a:pPr>
            <a:r>
              <a:t>• Palpitations</a:t>
            </a:r>
          </a:p>
          <a:p>
            <a:pPr>
              <a:spcAft>
                <a:spcPts val="800"/>
              </a:spcAft>
              <a:defRPr sz="1700"/>
            </a:pPr>
            <a:r>
              <a:t>• Dizziness/lightheadedness</a:t>
            </a:r>
          </a:p>
          <a:p>
            <a:pPr>
              <a:spcAft>
                <a:spcPts val="800"/>
              </a:spcAft>
              <a:defRPr sz="1700"/>
            </a:pPr>
            <a:r>
              <a:t>• Headache</a:t>
            </a:r>
          </a:p>
          <a:p>
            <a:pPr>
              <a:spcAft>
                <a:spcPts val="800"/>
              </a:spcAft>
              <a:defRPr sz="1700"/>
            </a:pPr>
            <a:r>
              <a:t>• Decreased exercise tolerance</a:t>
            </a:r>
          </a:p>
          <a:p>
            <a:pPr>
              <a:spcAft>
                <a:spcPts val="800"/>
              </a:spcAft>
              <a:defRPr sz="1700"/>
            </a:pPr>
            <a:r>
              <a:t>• Chest pain (severe anemia)</a:t>
            </a:r>
          </a:p>
          <a:p>
            <a:pPr>
              <a:spcAft>
                <a:spcPts val="800"/>
              </a:spcAft>
              <a:defRPr sz="1700"/>
            </a:pPr>
            <a:r>
              <a:t>• Pallor (conjunctivae, palms, nail beds)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Specific Signs by Etiology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Koilonychia (iron deficiency)</a:t>
            </a:r>
          </a:p>
          <a:p>
            <a:pPr>
              <a:spcAft>
                <a:spcPts val="800"/>
              </a:spcAft>
              <a:defRPr sz="1700"/>
            </a:pPr>
            <a:r>
              <a:t>• Glossitis, angular cheilitis</a:t>
            </a:r>
          </a:p>
          <a:p>
            <a:pPr>
              <a:spcAft>
                <a:spcPts val="800"/>
              </a:spcAft>
              <a:defRPr sz="1700"/>
            </a:pPr>
            <a:r>
              <a:t>• Jaundice (hemolysis)</a:t>
            </a:r>
          </a:p>
          <a:p>
            <a:pPr>
              <a:spcAft>
                <a:spcPts val="800"/>
              </a:spcAft>
              <a:defRPr sz="1700"/>
            </a:pPr>
            <a:r>
              <a:t>• Splenomegaly</a:t>
            </a:r>
          </a:p>
          <a:p>
            <a:pPr>
              <a:spcAft>
                <a:spcPts val="800"/>
              </a:spcAft>
              <a:defRPr sz="1700"/>
            </a:pPr>
            <a:r>
              <a:t>• Petechiae (marrow failure)</a:t>
            </a:r>
          </a:p>
          <a:p>
            <a:pPr>
              <a:spcAft>
                <a:spcPts val="800"/>
              </a:spcAft>
              <a:defRPr sz="1700"/>
            </a:pPr>
            <a:r>
              <a:t>• Neurological signs (B12 deficiency)</a:t>
            </a:r>
          </a:p>
          <a:p>
            <a:pPr>
              <a:spcAft>
                <a:spcPts val="800"/>
              </a:spcAft>
              <a:defRPr sz="1700"/>
            </a:pPr>
            <a:r>
              <a:t>• Leg ulcers (sickle cell)</a:t>
            </a:r>
          </a:p>
          <a:p>
            <a:pPr>
              <a:spcAft>
                <a:spcPts val="800"/>
              </a:spcAft>
              <a:defRPr sz="1700"/>
            </a:pPr>
            <a:r>
              <a:t>• Bone deformities (thalassemia major)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Essential History Taking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Duration and onset of symptoms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Dietary history (vegetarian/vegan, pica, nutrition)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Bleeding history (menstrual, GI, urinary)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Medical conditions (chronic disease, malignancy, autoimmune)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Medications (NSAIDs, anticoagulants, chemotherapy)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Family history (hemoglobinopathies, hereditary anemias)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Ethnicity (G6PD, thalassemia, sickle cell)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Alcohol use, drug history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Surgical history (gastric bypass, resections)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2</a:t>
            </a:r>
            <a:br/>
            <a:r>
              <a:t>Laboratory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Initial Laboratory Workup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Complete Blood Count (CBC) with indices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Reticulocyte count (absolute and percentage)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Peripheral blood smear examination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Basic metabolic panel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Iron studies (serum iron, TIBC, ferritin, transferrin saturation)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Vitamin B12 and folate levels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Lactate dehydrogenase (LDH)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Bilirubin (total and indirect)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Haptoglobin (if hemolysis suspected)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CBC Parameters &amp; Reference Ranges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Normal Range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Clinical Significance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Hemoglobin (Hb)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M: 13-17 g/dL</a:t>
                      </a:r>
                    </a:p>
                    <a:p>
                      <a:r>
                        <a:t>F: 12-16 g/dL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Primary marker of anemia severity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Hematocrit (Hct)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M: 40-54%</a:t>
                      </a:r>
                    </a:p>
                    <a:p>
                      <a:r>
                        <a:t>F: 36-48%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Reflects RBC volume fraction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MCV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80-100 fL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Classifies anemia morphologically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27-33 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Hb content per RBC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MCHC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32-36 g/dL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Hb concentration per RBC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RDW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11.5-14.5%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Variation in RBC size (anisocytosis)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Reticulocytes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0.5-2.5%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Bone marrow response indicator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3</a:t>
            </a:r>
            <a:br/>
            <a:r>
              <a:t>MCV-Based Classification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MCV-Based Classification of Anemia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MICROCYTIC (MCV &lt; 80 fL):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Iron deficiency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Thalassemia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Anemia of chronic disease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Sideroblastic anemia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Lead poisoning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NORMOCYTIC (MCV 80-100 fL):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Acute blood loss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Anemia of chronic disease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Chronic kidney disease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Hemolysis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Bone marrow failure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Mixed deficiencies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MACROCYTIC (MCV &gt; 100 fL):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Vitamin B12 deficiency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Folate deficiency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Myelodysplastic syndrome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Liver disease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Hypothyroidism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Medications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Reticulocytosis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Differentiating Microcytic Anemias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Iron Deficiency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Thalassemia Trait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Sideroblastic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Serum Iron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↓↓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↓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TIBC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Normal/↓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Ferritin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↓↓ (&lt;30)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Normal/↑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Transferrin 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&lt; 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Normal/↓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RDW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RBC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 or 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↓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Mentzer Index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&gt; 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&lt; 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Special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Low ferritin</a:t>
                      </a:r>
                    </a:p>
                    <a:p>
                      <a:r>
                        <a:t>soluble TfR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Hb electro-</a:t>
                      </a:r>
                    </a:p>
                    <a:p>
                      <a:r>
                        <a:t>phoresis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CRP/ESR ↑</a:t>
                      </a:r>
                    </a:p>
                    <a:p>
                      <a:r>
                        <a:t>Hepcidin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Ring sidero-</a:t>
                      </a:r>
                    </a:p>
                    <a:p>
                      <a:r>
                        <a:t>blasts on BM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Iron Deficiency Anemia - Workup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Confirm iron deficiency: Ferritin &lt; 30 ng/mL (&lt; 100 in inflammation)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Identify the cause - Iron deficiency is a symptom!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Common causes to investigate: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GI blood loss (most common in men/postmenopausal women)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Menstrual blood loss (most common in premenopausal women)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Malabsorption (celiac, H. pylori, gastric surgery)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Dietary insufficiency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Increased demands (pregnancy, growth)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Further workup based on clinical suspicion: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Upper and lower GI endoscopy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Celiac serology (TTG-IgA)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H. pylori testing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Urine analysis for hematuria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Consider GI evaluation in all men and postmenopausal women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Normocytic Anemia - Diagnostic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Check reticulocyte count first: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High (&gt;2-3%): Hemolysis or acute blood loss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Low/Normal (&lt;2%): Underproduction (marrow failure, chronic disease)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Key considerations: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Can be early iron/B12/folate deficiency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May be combined deficiencies masking MCV changes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Anemia of chronic disease can be normocytic or microcytic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Essential workup includes: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Renal function (CKD → low EPO)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Thyroid function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Hemolysis workup (LDH, haptoglobin, bilirubin, DAT)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Peripheral smear review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Consider bone marrow biopsy if unexplained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Macrocytic Anemia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Megaloblastic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Vitamin B12 deficiency</a:t>
            </a:r>
          </a:p>
          <a:p>
            <a:pPr>
              <a:spcAft>
                <a:spcPts val="800"/>
              </a:spcAft>
              <a:defRPr sz="1700"/>
            </a:pPr>
            <a:r>
              <a:t>• Folate deficiency</a:t>
            </a:r>
          </a:p>
          <a:p>
            <a:pPr>
              <a:spcAft>
                <a:spcPts val="800"/>
              </a:spcAft>
              <a:defRPr sz="1700"/>
            </a:pPr>
            <a:r>
              <a:t>• Drug-induced (methotrexate,</a:t>
            </a:r>
            <a:br/>
            <a:r>
              <a:t>  hydroxyurea, azathioprine)</a:t>
            </a:r>
          </a:p>
          <a:p>
            <a:pPr>
              <a:spcAft>
                <a:spcPts val="800"/>
              </a:spcAft>
              <a:defRPr sz="1700"/>
            </a:pPr>
            <a:r>
              <a:t>• Features: Hypersegmented</a:t>
            </a:r>
            <a:br/>
            <a:r>
              <a:t>  neutrophils, oval macrocytes</a:t>
            </a:r>
          </a:p>
          <a:p>
            <a:pPr>
              <a:spcAft>
                <a:spcPts val="800"/>
              </a:spcAft>
              <a:defRPr sz="1700"/>
            </a:pPr>
            <a:r>
              <a:t>• Ineffective erythropoiesis</a:t>
            </a:r>
          </a:p>
          <a:p>
            <a:pPr>
              <a:spcAft>
                <a:spcPts val="800"/>
              </a:spcAft>
              <a:defRPr sz="1700"/>
            </a:pPr>
            <a:r>
              <a:t>• Check B12, folate, MMA,</a:t>
            </a:r>
            <a:br/>
            <a:r>
              <a:t>  homocysteine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Non-Megaloblastic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Liver disease/Alcohol</a:t>
            </a:r>
          </a:p>
          <a:p>
            <a:pPr>
              <a:spcAft>
                <a:spcPts val="800"/>
              </a:spcAft>
              <a:defRPr sz="1700"/>
            </a:pPr>
            <a:r>
              <a:t>• Hypothyroidism</a:t>
            </a:r>
          </a:p>
          <a:p>
            <a:pPr>
              <a:spcAft>
                <a:spcPts val="800"/>
              </a:spcAft>
              <a:defRPr sz="1700"/>
            </a:pPr>
            <a:r>
              <a:t>• Myelodysplastic syndrome</a:t>
            </a:r>
          </a:p>
          <a:p>
            <a:pPr>
              <a:spcAft>
                <a:spcPts val="800"/>
              </a:spcAft>
              <a:defRPr sz="1700"/>
            </a:pPr>
            <a:r>
              <a:t>• Reticulocytosis</a:t>
            </a:r>
          </a:p>
          <a:p>
            <a:pPr>
              <a:spcAft>
                <a:spcPts val="800"/>
              </a:spcAft>
              <a:defRPr sz="1700"/>
            </a:pPr>
            <a:r>
              <a:t>• Drug-induced (non-antimetabolite)</a:t>
            </a:r>
          </a:p>
          <a:p>
            <a:pPr>
              <a:spcAft>
                <a:spcPts val="800"/>
              </a:spcAft>
              <a:defRPr sz="1700"/>
            </a:pPr>
            <a:r>
              <a:t>• Round macrocytes</a:t>
            </a:r>
          </a:p>
          <a:p>
            <a:pPr>
              <a:spcAft>
                <a:spcPts val="800"/>
              </a:spcAft>
              <a:defRPr sz="1700"/>
            </a:pPr>
            <a:r>
              <a:t>• Target cells in liver disease</a:t>
            </a:r>
          </a:p>
          <a:p>
            <a:pPr>
              <a:spcAft>
                <a:spcPts val="800"/>
              </a:spcAft>
              <a:defRPr sz="1700"/>
            </a:pPr>
            <a:r>
              <a:t>• May need bone marrow biopsy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B12 vs Folate Deficiency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B12 Deficiency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Folate Deficiency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Common Causes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Pernicious anemia, malabsorption,</a:t>
                      </a:r>
                    </a:p>
                    <a:p>
                      <a:r>
                        <a:t>vegan diet, medications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Poor diet, alcoholism, pregnancy,</a:t>
                      </a:r>
                    </a:p>
                    <a:p>
                      <a:r>
                        <a:t>malabsorption, medications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Neurological 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Present (SACD*, peripheral</a:t>
                      </a:r>
                    </a:p>
                    <a:p>
                      <a:r>
                        <a:t>neuropathy, cognitive changes)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Absent (unless severe)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Serum Level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↓ (&lt; 200 pg/mL)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↓ (&lt; 3 ng/mL)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Methylmalonic 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 (specific for B12)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Homocysteine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Additional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Anti-IF antibodies, anti-parietal</a:t>
                      </a:r>
                    </a:p>
                    <a:p>
                      <a:r>
                        <a:t>cell Ab, gastrin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RBC folate (more reliable</a:t>
                      </a:r>
                    </a:p>
                    <a:p>
                      <a:r>
                        <a:t>than serum)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Treatment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B12 replacement (IM or high-</a:t>
                      </a:r>
                    </a:p>
                    <a:p>
                      <a:r>
                        <a:t>dose oral)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Folate supplementation</a:t>
                      </a:r>
                    </a:p>
                    <a:p>
                      <a:r>
                        <a:t>(rule out B12 def first!)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4</a:t>
            </a:r>
            <a:br/>
            <a:r>
              <a:t>Hemolytic Anemia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Recognizing Hemolytic Anemia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Hallmark: Elevated reticulocyte count + anemia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Laboratory findings suggesting hemolysis: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↑ LDH (released from lysed RBCs)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↓ Haptoglobin (binds free Hb → cleared)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↑ Indirect bilirubin (unconjugated)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↑ Reticulocyte count (compensatory)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Hemoglobinuria/hemosiderinuria (intravascular)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Peripheral smear findings: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Spherocytes, schistocytes, bite cells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Sickle cells, target cells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RBC agglutination, polychromasia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Classification: Intrinsic (RBC defect) vs Extrinsic (external cause)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Classification of Hemolytic Anemias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Intrinsic (RBC Defects)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Membrane disorders:</a:t>
            </a:r>
          </a:p>
          <a:p>
            <a:pPr>
              <a:spcAft>
                <a:spcPts val="800"/>
              </a:spcAft>
              <a:defRPr sz="1700"/>
            </a:pPr>
            <a:r>
              <a:t>•   - Hereditary spherocytosis</a:t>
            </a:r>
          </a:p>
          <a:p>
            <a:pPr>
              <a:spcAft>
                <a:spcPts val="800"/>
              </a:spcAft>
              <a:defRPr sz="1700"/>
            </a:pPr>
            <a:r>
              <a:t>•   - Hereditary elliptocytosis</a:t>
            </a:r>
          </a:p>
          <a:p>
            <a:pPr>
              <a:spcAft>
                <a:spcPts val="800"/>
              </a:spcAft>
              <a:defRPr sz="1700"/>
            </a:pPr>
            <a:r>
              <a:t>• Enzyme deficiencies:</a:t>
            </a:r>
          </a:p>
          <a:p>
            <a:pPr>
              <a:spcAft>
                <a:spcPts val="800"/>
              </a:spcAft>
              <a:defRPr sz="1700"/>
            </a:pPr>
            <a:r>
              <a:t>•   - G6PD deficiency</a:t>
            </a:r>
          </a:p>
          <a:p>
            <a:pPr>
              <a:spcAft>
                <a:spcPts val="800"/>
              </a:spcAft>
              <a:defRPr sz="1700"/>
            </a:pPr>
            <a:r>
              <a:t>•   - Pyruvate kinase deficiency</a:t>
            </a:r>
          </a:p>
          <a:p>
            <a:pPr>
              <a:spcAft>
                <a:spcPts val="800"/>
              </a:spcAft>
              <a:defRPr sz="1700"/>
            </a:pPr>
            <a:r>
              <a:t>• Hemoglobinopathies:</a:t>
            </a:r>
          </a:p>
          <a:p>
            <a:pPr>
              <a:spcAft>
                <a:spcPts val="800"/>
              </a:spcAft>
              <a:defRPr sz="1700"/>
            </a:pPr>
            <a:r>
              <a:t>•   - Sickle cell disease</a:t>
            </a:r>
          </a:p>
          <a:p>
            <a:pPr>
              <a:spcAft>
                <a:spcPts val="800"/>
              </a:spcAft>
              <a:defRPr sz="1700"/>
            </a:pPr>
            <a:r>
              <a:t>•   - Thalassemia (major)</a:t>
            </a:r>
          </a:p>
          <a:p>
            <a:pPr>
              <a:spcAft>
                <a:spcPts val="800"/>
              </a:spcAft>
              <a:defRPr sz="1700"/>
            </a:pPr>
            <a:r>
              <a:t>•   - Unstable hemoglobins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0000"/>
                </a:solidFill>
              </a:defRPr>
            </a:pPr>
            <a:r>
              <a:t>Extrinsic (External Factors)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Immune-mediated:</a:t>
            </a:r>
          </a:p>
          <a:p>
            <a:pPr>
              <a:spcAft>
                <a:spcPts val="800"/>
              </a:spcAft>
              <a:defRPr sz="1700"/>
            </a:pPr>
            <a:r>
              <a:t>•   - Autoimmune (warm/cold)</a:t>
            </a:r>
          </a:p>
          <a:p>
            <a:pPr>
              <a:spcAft>
                <a:spcPts val="800"/>
              </a:spcAft>
              <a:defRPr sz="1700"/>
            </a:pPr>
            <a:r>
              <a:t>•   - Drug-induced</a:t>
            </a:r>
          </a:p>
          <a:p>
            <a:pPr>
              <a:spcAft>
                <a:spcPts val="800"/>
              </a:spcAft>
              <a:defRPr sz="1700"/>
            </a:pPr>
            <a:r>
              <a:t>•   - Transfusion reactions</a:t>
            </a:r>
          </a:p>
          <a:p>
            <a:pPr>
              <a:spcAft>
                <a:spcPts val="800"/>
              </a:spcAft>
              <a:defRPr sz="1700"/>
            </a:pPr>
            <a:r>
              <a:t>• Microangiopathic:</a:t>
            </a:r>
          </a:p>
          <a:p>
            <a:pPr>
              <a:spcAft>
                <a:spcPts val="800"/>
              </a:spcAft>
              <a:defRPr sz="1700"/>
            </a:pPr>
            <a:r>
              <a:t>•   - TTP, HUS, DIC, HELLP</a:t>
            </a:r>
          </a:p>
          <a:p>
            <a:pPr>
              <a:spcAft>
                <a:spcPts val="800"/>
              </a:spcAft>
              <a:defRPr sz="1700"/>
            </a:pPr>
            <a:r>
              <a:t>•   - Mechanical heart valves</a:t>
            </a:r>
          </a:p>
          <a:p>
            <a:pPr>
              <a:spcAft>
                <a:spcPts val="800"/>
              </a:spcAft>
              <a:defRPr sz="1700"/>
            </a:pPr>
            <a:r>
              <a:t>• Infections: Malaria, Babesia</a:t>
            </a:r>
          </a:p>
          <a:p>
            <a:pPr>
              <a:spcAft>
                <a:spcPts val="800"/>
              </a:spcAft>
              <a:defRPr sz="1700"/>
            </a:pPr>
            <a:r>
              <a:t>• Toxins: Snake venom, copper</a:t>
            </a:r>
          </a:p>
          <a:p>
            <a:pPr>
              <a:spcAft>
                <a:spcPts val="800"/>
              </a:spcAft>
              <a:defRPr sz="1700"/>
            </a:pPr>
            <a:r>
              <a:t>• Hypersplenism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Hemolytic Anemia Workup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1: Confirm hemolysis (↑retics, ↓haptoglobin, ↑LDH, ↑indirect bili)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2: Direct Antiglobulin Test (Coombs)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DAT positive → Immune hemolysis (AIHA, drug-induced, transfusion)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DAT negative → Non-immune causes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3: Peripheral blood smear - Critical for diagnosis!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4: Additional testing based on smear/clinical context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Spherocytes: HS, AIHA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Schistocytes: MAHA (TTP/HUS/DIC)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Bite/blister cells: G6PD deficiency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Sickle cells: SCD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Target cells: Thalassemia, liver disease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5: Consider intravascular vs extravascular hemolysis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5</a:t>
            </a:r>
            <a:br/>
            <a:r>
              <a:t>Reticulocyte-Based Approach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Reticulocyte Count &amp; Reticulocyte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Reticulocyte count reflects bone marrow response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Must correct for degree of anemia: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Corrected retic count = Retic % × (Patient Hct/Normal Hct)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RPI = Corrected retic count / Maturation factor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Maturation factor: 1 (Hct 45%), 1.5 (Hct 35%), 2 (Hct 25%), 2.5 (Hct 15%)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Interpretation of Reticulocyte Production Index (RPI):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RPI ≥ 2-3: Appropriate response (hemolysis, blood loss)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RPI &lt; 2: Hypoproliferative (production problem)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Absolute Reticulocyte Count (ARC) &gt; 100,000/μL suggests adequate response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Combines with MCV for comprehensive classification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Kinetic (Reticulocyte-Based)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7315200" cy="73152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1: Confirm anemia with CBC</a:t>
            </a:r>
          </a:p>
        </p:txBody>
      </p:sp>
      <p:sp>
        <p:nvSpPr>
          <p:cNvPr id="5" name="Down Arrow 4"/>
          <p:cNvSpPr/>
          <p:nvPr/>
        </p:nvSpPr>
        <p:spPr>
          <a:xfrm>
            <a:off x="4297680" y="196596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7315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2: Calculate RPI or absolute reticulocyte count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97680" y="306324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7315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3a: RPI ≥ 2: Blood loss or Hemolysis → Hemolysis workup</a:t>
            </a:r>
          </a:p>
        </p:txBody>
      </p:sp>
      <p:sp>
        <p:nvSpPr>
          <p:cNvPr id="9" name="Down Arrow 8"/>
          <p:cNvSpPr/>
          <p:nvPr/>
        </p:nvSpPr>
        <p:spPr>
          <a:xfrm>
            <a:off x="4297680" y="416052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7315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3b: RPI &lt; 2: Underproduction → Use MCV classification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97680" y="525780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5577840"/>
            <a:ext cx="7315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4: Integrate clinical findings with lab results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297680" y="635508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6675120"/>
            <a:ext cx="7315200" cy="731520"/>
          </a:xfrm>
          <a:prstGeom prst="roundRect">
            <a:avLst/>
          </a:prstGeom>
          <a:solidFill>
            <a:srgbClr val="0064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5: Targeted additional testing based on differential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6</a:t>
            </a:r>
            <a:br/>
            <a:r>
              <a:t>Special Situations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Anemia of Chronic Disease (ACD)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Second most common cause of anemia worldwide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Pathophysiology: Hepcidin-mediated iron sequestration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Associated conditions: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Chronic infections (HIV, TB, osteomyelitis)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Autoimmune/inflammatory disorders (RA, SLE, IBD)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Malignancy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Chronic kidney disease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Laboratory profile: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Usually normocytic (can be microcytic)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Low serum iron, low TIBC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Normal or elevated ferritin (acute phase reactant)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Low-normal transferrin saturation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May coexist with iron deficiency - challenge to diagnose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Soluble transferrin receptor (sTfR) helps differentiate from IDA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Anemia of Chronic Kidney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Primary mechanism: Decreased erythropoietin (EPO) production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Usually develops when eGFR &lt; 60 mL/min/1.73m²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Typically normocytic, normochromic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Contributing factors: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Iron deficiency (uremic blood loss, dialysis losses)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Inflammation/chronic disease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Folate/B12 deficiency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Hyperparathyroidism (marrow fibrosis)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Shortened RBC survival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Workup: Rule out other causes before attributing to CKD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Management: Iron supplementation, ESA therapy if indicated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Target Hb: Generally 10-11.5 g/dL (avoid &gt; 13 g/dL)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Anemia in Pregnancy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Physiological anemia: Plasma volume expansion &gt; RBC increase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WHO criteria: Hb &lt; 11 g/dL (1st/3rd trimester), &lt; 10.5 g/dL (2nd)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Most common causes: Iron deficiency (most common), folate deficiency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Screening recommendations: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CBC at first prenatal visit and 24-28 weeks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Iron studies if anemia present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All pregnant women should receive iron supplementation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Special considerations: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B12 deficiency can cause neural tube defects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Sickle cell screening in appropriate populations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HELLP syndrome: Microangiopathic hemolysis in preeclampsia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Treatment: Oral iron first-line, IV iron if intolerant/severe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Anemia in the Elderly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Prevalence: ~10% of community-dwelling adults &gt;65, ~50% in nursing homes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Often multifactorial - requires comprehensive evaluation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Common causes: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Anemia of chronic disease/inflammation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Iron deficiency (often GI blood loss - malignancy!)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CKD-associated anemia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Nutritional deficiencies (B12, folate)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Myelodysplastic syndrome (more common with age)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Unexplained anemia of elderly (UAE):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~1/3 of elderly anemia cases remain unexplained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May involve age-related decline in hematopoiesis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◦ Consider clonal hematopoiesis of indeterminate potential (CHIP)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Associated with increased mortality, falls, cognitive decline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Lower threshold for bone marrow evaluation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7</a:t>
            </a:r>
            <a:br/>
            <a:r>
              <a:t>Diagnostic Algorithms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Master Diagnostic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7315200" cy="73152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Confirm: Hb below threshold for age/sex</a:t>
            </a:r>
          </a:p>
        </p:txBody>
      </p:sp>
      <p:sp>
        <p:nvSpPr>
          <p:cNvPr id="5" name="Down Arrow 4"/>
          <p:cNvSpPr/>
          <p:nvPr/>
        </p:nvSpPr>
        <p:spPr>
          <a:xfrm>
            <a:off x="4297680" y="196596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7315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History: Bleeding, diet, meds, comorbidities, family hx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97680" y="306324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7315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CBC: Evaluate MCV, RDW, other cell lines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4297680" y="416052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7315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Reticulocytes: Assess bone marrow response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97680" y="525780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5577840"/>
            <a:ext cx="7315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Initial Labs: Iron studies, B12, folate, LFTs, renal function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297680" y="635508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6675120"/>
            <a:ext cx="7315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Targeted Tests: Based on initial findings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97680" y="7452360"/>
            <a:ext cx="548640" cy="320040"/>
          </a:xfrm>
          <a:prstGeom prst="down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7772400"/>
            <a:ext cx="7315200" cy="731520"/>
          </a:xfrm>
          <a:prstGeom prst="roundRect">
            <a:avLst/>
          </a:prstGeom>
          <a:solidFill>
            <a:srgbClr val="0064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Diagnosis: Identify etiology and treat underlying cause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Indications for Hematology Referral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Unexplained anemia despite initial workup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Suspected bone marrow failure or MDS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Hemolytic anemia (especially DAT-positive)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Suspected hemoglobinopathy requiring confirmation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Multiple cytopenias (bicytopenia, pancytopenia)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Need for bone marrow biopsy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Refractory anemia not responding to treatment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Transfusion-dependent anemia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Suspected clonal disorder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Indications for Bone Marrow Examination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Unexplained cytopenias (bi- or pancytopenia)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Suspected hematologic malignancy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Evaluation for myelodysplastic syndrome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Unexplained anemia after non-invasive workup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Staging of lymphoma or other malignancies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Evaluation for iron stores (gold standard)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Suspected infiltrative disease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Unexplained leukoerythroblastic blood smear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Fever of unknown origin with cytopenias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8</a:t>
            </a:r>
            <a:br/>
            <a:r>
              <a:t>Summary &amp; Key Points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Anemia is a sign of underlying disease - always find the cause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Use a systematic approach: History → CBC → MCV classification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Reticulocyte count differentiates production vs destruction problems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Iron studies are essential for microcytic anemia workup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Always consider combined deficiencies in normocytic anemia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Peripheral blood smear is invaluable and often underutilized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Don't forget to rule out GI malignancy in iron deficiency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Know when to refer to hematology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Treat the underlying cause, not just the anemia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Quick Reference: First-Line Tests by MCV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MCV 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First-Line Tests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Consider If Unrevealing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Microcytic</a:t>
                      </a:r>
                    </a:p>
                    <a:p>
                      <a:r>
                        <a:t>(&lt; 80 fL)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Iron studies (ferritin, Fe, TIBC,</a:t>
                      </a:r>
                    </a:p>
                    <a:p>
                      <a:r>
                        <a:t>TSAT), Hb electrophoresis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Lead level, soluble TfR,</a:t>
                      </a:r>
                    </a:p>
                    <a:p>
                      <a:r>
                        <a:t>bone marrow biopsy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Normocytic</a:t>
                      </a:r>
                    </a:p>
                    <a:p>
                      <a:r>
                        <a:t>(80-100 fL)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Reticulocyte count, iron studies,</a:t>
                      </a:r>
                    </a:p>
                    <a:p>
                      <a:r>
                        <a:t>B12/folate, creatinine, TSH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Hemolysis workup, DAT,</a:t>
                      </a:r>
                    </a:p>
                    <a:p>
                      <a:r>
                        <a:t>BM biopsy, EPO level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Macrocytic</a:t>
                      </a:r>
                    </a:p>
                    <a:p>
                      <a:r>
                        <a:t>(&gt; 100 fL)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B12, folate, TSH, LFTs,</a:t>
                      </a:r>
                    </a:p>
                    <a:p>
                      <a:r>
                        <a:t>reticulocyte count, smear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MMA, homocysteine,</a:t>
                      </a:r>
                    </a:p>
                    <a:p>
                      <a:r>
                        <a:t>BM biopsy (MDS workup)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 &amp;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WHO Haemoglobin Concentrations for Diagnosis of Anaemia (2024 update)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American Society of Hematology Clinical Guidelines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UpToDate: Approach to the adult with anemia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Harrison's Principles of Internal Medicine, 21st Ed (2022)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Blood Journal - ASH Education Program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British Journal of Haematology Guidelines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KDIGO Clinical Practice Guidelines for Anemia in CKD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American College of Gastroenterology Guidelines on GI Evaluation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