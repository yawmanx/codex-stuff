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Komplikationen des Magenbypasses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F"/>
                </a:solidFill>
              </a:defRPr>
            </a:pPr>
            <a:r>
              <a:t>Ein umfassender Überblick für medizinisches Fachpersonal</a:t>
            </a:r>
          </a:p>
        </p:txBody>
      </p:sp>
      <p:sp>
        <p:nvSpPr>
          <p:cNvPr id="5" name="Oval 4"/>
          <p:cNvSpPr/>
          <p:nvPr/>
        </p:nvSpPr>
        <p:spPr>
          <a:xfrm>
            <a:off x="6858000" y="4754880"/>
            <a:ext cx="329184" cy="438912"/>
          </a:xfrm>
          <a:prstGeom prst="ellipse">
            <a:avLst/>
          </a:prstGeom>
          <a:solidFill>
            <a:srgbClr val="FFB6C1"/>
          </a:solidFill>
          <a:ln w="25400">
            <a:solidFill>
              <a:srgbClr val="B4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96912" y="4919472"/>
            <a:ext cx="548640" cy="768096"/>
          </a:xfrm>
          <a:prstGeom prst="ellipse">
            <a:avLst/>
          </a:prstGeom>
          <a:solidFill>
            <a:srgbClr val="C8C8C8"/>
          </a:solidFill>
          <a:ln w="1270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40296" y="5138928"/>
            <a:ext cx="164592" cy="822959"/>
          </a:xfrm>
          <a:prstGeom prst="roundRect">
            <a:avLst/>
          </a:prstGeom>
          <a:solidFill>
            <a:srgbClr val="FFDAB9"/>
          </a:solidFill>
          <a:ln w="12700">
            <a:solidFill>
              <a:srgbClr val="B4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06640" y="5632704"/>
            <a:ext cx="164592" cy="548640"/>
          </a:xfrm>
          <a:prstGeom prst="roundRect">
            <a:avLst/>
          </a:prstGeom>
          <a:solidFill>
            <a:srgbClr val="FFDAB9"/>
          </a:solidFill>
          <a:ln w="12700">
            <a:solidFill>
              <a:srgbClr val="B4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0" y="5907024"/>
            <a:ext cx="164592" cy="438912"/>
          </a:xfrm>
          <a:prstGeom prst="roundRect">
            <a:avLst/>
          </a:prstGeom>
          <a:solidFill>
            <a:srgbClr val="FFDAB9"/>
          </a:solidFill>
          <a:ln w="12700">
            <a:solidFill>
              <a:srgbClr val="B4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67728" y="5111496"/>
            <a:ext cx="109728" cy="109728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Übersicht</a:t>
            </a:r>
          </a:p>
        </p:txBody>
      </p:sp>
      <p:sp>
        <p:nvSpPr>
          <p:cNvPr id="4" name="Oval 3"/>
          <p:cNvSpPr/>
          <p:nvPr/>
        </p:nvSpPr>
        <p:spPr>
          <a:xfrm>
            <a:off x="8138160" y="1371600"/>
            <a:ext cx="548640" cy="5486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1371600"/>
            <a:ext cx="38404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Einführung in den Magenbypass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Klassifikation der Komplikationen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Frühe postoperative Komplikationen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Späte Komplikationen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Ernährungsbedingte Mangelzustände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Psychologische Aspekte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Prävention und Management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Zusammenfassung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Anatomie des Roux-en-Y Magenbypasses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29968" y="1152144"/>
            <a:ext cx="411480" cy="822960"/>
          </a:xfrm>
          <a:prstGeom prst="roundRect">
            <a:avLst/>
          </a:prstGeom>
          <a:solidFill>
            <a:srgbClr val="FFC8B4"/>
          </a:solidFill>
          <a:ln>
            <a:solidFill>
              <a:srgbClr val="B4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18488" y="1810512"/>
            <a:ext cx="1234440" cy="1481328"/>
          </a:xfrm>
          <a:prstGeom prst="ellipse">
            <a:avLst/>
          </a:prstGeom>
          <a:solidFill>
            <a:srgbClr val="FF9696"/>
          </a:solidFill>
          <a:ln w="25400">
            <a:solidFill>
              <a:srgbClr val="B4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82112" y="1975104"/>
            <a:ext cx="1975104" cy="2633472"/>
          </a:xfrm>
          <a:prstGeom prst="ellipse">
            <a:avLst/>
          </a:prstGeom>
          <a:solidFill>
            <a:srgbClr val="B4B4B4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75887" y="4443984"/>
            <a:ext cx="493776" cy="1316736"/>
          </a:xfrm>
          <a:prstGeom prst="roundRect">
            <a:avLst/>
          </a:prstGeom>
          <a:solidFill>
            <a:srgbClr val="C8C8C8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65376" y="3127248"/>
            <a:ext cx="576072" cy="2962656"/>
          </a:xfrm>
          <a:prstGeom prst="roundRect">
            <a:avLst/>
          </a:prstGeom>
          <a:solidFill>
            <a:srgbClr val="FFDCC8"/>
          </a:solidFill>
          <a:ln w="25400">
            <a:solidFill>
              <a:srgbClr val="C8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46704" y="5596128"/>
            <a:ext cx="576072" cy="1481328"/>
          </a:xfrm>
          <a:prstGeom prst="roundRect">
            <a:avLst/>
          </a:prstGeom>
          <a:solidFill>
            <a:srgbClr val="C8FFC8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23744" y="5925312"/>
            <a:ext cx="576072" cy="1645920"/>
          </a:xfrm>
          <a:prstGeom prst="roundRect">
            <a:avLst/>
          </a:prstGeom>
          <a:solidFill>
            <a:srgbClr val="FFF0C8"/>
          </a:solidFill>
          <a:ln>
            <a:solidFill>
              <a:srgbClr val="B4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47672" y="3044952"/>
            <a:ext cx="411480" cy="41148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06040" y="5843016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71600" y="7735824"/>
            <a:ext cx="137160" cy="13716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7690104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Gastrojejunostomie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7964424"/>
            <a:ext cx="137160" cy="137160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7918704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Jejunojejunostomie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293"/>
                </a:solidFill>
              </a:defRPr>
            </a:pPr>
            <a:r>
              <a:t>Magenpouch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Kleiner verbleibender Magen (~30ml)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293"/>
                </a:solidFill>
              </a:defRPr>
            </a:pPr>
            <a:r>
              <a:t>Restmagen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Ausgeschalteter Magenanteil (grau)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4747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293"/>
                </a:solidFill>
              </a:defRPr>
            </a:pPr>
            <a:r>
              <a:t>Alimentäre Schlinge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Roux-Schlinge für Nahrung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976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293"/>
                </a:solidFill>
              </a:defRPr>
            </a:pPr>
            <a:r>
              <a:t>Biliopankreatische Schlinge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Führt Verdauungssäfte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1206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293"/>
                </a:solidFill>
              </a:defRPr>
            </a:pPr>
            <a:r>
              <a:t>Common Channel</a:t>
            </a:r>
          </a:p>
          <a:p>
            <a:pPr>
              <a:defRPr sz="1400">
                <a:solidFill>
                  <a:srgbClr val="505050"/>
                </a:solidFill>
              </a:defRPr>
            </a:pPr>
            <a:r>
              <a:t>Gemeinsame Endstrecke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Magenbypass in Zahlen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651760" cy="1828800"/>
          </a:xfrm>
          <a:prstGeom prst="round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60-80%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Übergewichtsverlust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63040"/>
            <a:ext cx="2651760" cy="182880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7373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&lt;0.5%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Mortalitätsrate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2651760" cy="18288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10-20%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Komplikationsrate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265176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Diabetes-Remission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657600"/>
            <a:ext cx="2651760" cy="1828800"/>
          </a:xfrm>
          <a:prstGeom prst="round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393192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663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Hypertonie-Besserung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57600"/>
            <a:ext cx="2651760" cy="182880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93192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5-7 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63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Langzeiterfolg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Klassifikation der Komplikationen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4114800" cy="47548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5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4114800" cy="47548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5293"/>
                </a:solidFill>
              </a:defRPr>
            </a:pPr>
            <a:r>
              <a:t>Frühe Komplikationen (&lt; 30 Tage)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Anastomoseninsuffizienz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Blutung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Lungenembolie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Wundinfektion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Darmobstruktion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Atelektase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46304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3545"/>
                </a:solidFill>
              </a:defRPr>
            </a:pPr>
            <a:r>
              <a:t>Späte Komplikationen (&gt; 30 Tage)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01168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Dumping-Syndrom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Nährstoffmängel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Stenosen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Innere Hernien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Ulzera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Cholelithiasis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5029200"/>
            <a:ext cx="1097280" cy="365760"/>
          </a:xfrm>
          <a:prstGeom prst="rect">
            <a:avLst/>
          </a:prstGeom>
          <a:solidFill>
            <a:srgbClr val="FFFFFF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4663440"/>
            <a:ext cx="365760" cy="1097280"/>
          </a:xfrm>
          <a:prstGeom prst="rect">
            <a:avLst/>
          </a:prstGeom>
          <a:solidFill>
            <a:srgbClr val="FFFFFF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Frühe Postoperative Komplikationen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Anastomoseninsuffizienz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046720" y="1371600"/>
            <a:ext cx="548640" cy="548640"/>
          </a:xfrm>
          <a:prstGeom prst="triangle">
            <a:avLst/>
          </a:prstGeom>
          <a:solidFill>
            <a:srgbClr val="FFC107"/>
          </a:solidFill>
          <a:ln w="25400"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38744" y="1508760"/>
            <a:ext cx="1645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</a:defRPr>
            </a:pPr>
            <a: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Inzidenz: 1-5% der Fälle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Häufigste Lokalisation: Gastrojejunostomie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Symptome: Tachykardie (&gt;120/min), Fieber, Bauchschmerzen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Frühzeichen: Unruhe, Tachypnoe, Oligurie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Diagnose: CT mit oralem Kontrastmittel, Methylenblau-Test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Drainage, Antibiotika, ggf. Re-Operation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Mortalitätsrisiko: bis zu 15% wenn unbehandelt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Postoperative Blutung</a:t>
            </a:r>
          </a:p>
        </p:txBody>
      </p:sp>
      <p:sp>
        <p:nvSpPr>
          <p:cNvPr id="4" name="Oval 3"/>
          <p:cNvSpPr/>
          <p:nvPr/>
        </p:nvSpPr>
        <p:spPr>
          <a:xfrm>
            <a:off x="8138160" y="1508760"/>
            <a:ext cx="457200" cy="457200"/>
          </a:xfrm>
          <a:prstGeom prst="ellipse">
            <a:avLst/>
          </a:prstGeom>
          <a:solidFill>
            <a:srgbClr val="B4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8252460" y="1371600"/>
            <a:ext cx="228600" cy="228600"/>
          </a:xfrm>
          <a:prstGeom prst="triangle">
            <a:avLst/>
          </a:prstGeom>
          <a:solidFill>
            <a:srgbClr val="B4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66760" y="1741932"/>
            <a:ext cx="320040" cy="320040"/>
          </a:xfrm>
          <a:prstGeom prst="ellipse">
            <a:avLst/>
          </a:prstGeom>
          <a:solidFill>
            <a:srgbClr val="B4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>
            <a:off x="8446770" y="1645920"/>
            <a:ext cx="160020" cy="160020"/>
          </a:xfrm>
          <a:prstGeom prst="triangle">
            <a:avLst/>
          </a:prstGeom>
          <a:solidFill>
            <a:srgbClr val="B4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Inzidenz: 1-4% der Patienten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Intraluminal: GI-Blutung aus Anastomose oder Klammernaht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Extraluminal: Intraabdominelle Blutung (Gefäße, Milz)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Risikofaktoren: Antikoagulation, technische Faktoren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Symptome: Hämatemesis, Meläna, hämodynamische Instabilität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Diagnose: Endoskopie, CT-Angiographie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Endoskopische Blutstillung, Transfusion, ggf. Re-OP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Thromboembolische Komplikationen</a:t>
            </a:r>
          </a:p>
        </p:txBody>
      </p:sp>
      <p:sp>
        <p:nvSpPr>
          <p:cNvPr id="4" name="Heart 3"/>
          <p:cNvSpPr/>
          <p:nvPr/>
        </p:nvSpPr>
        <p:spPr>
          <a:xfrm>
            <a:off x="8046720" y="1371600"/>
            <a:ext cx="640080" cy="640080"/>
          </a:xfrm>
          <a:prstGeom prst="hear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Tiefe Venenthrombose (TVT): 0,3-1,2%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Lungenembolie (LE): 0,2-1% – Haupttodesursache!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Pathophysiologie: Virchow-Trias verstärkt bei Adipositas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Risikofaktoren: BMI &gt;50, Immobilisation, lange OP-Zeit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Prävention: Frühmobilisation, Kompressionsstrümpfe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Medikamentös: NMH präoperativ beginnen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Antikoagulation, ggf. Lyse oder Thrombektomie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Infektiöse Komplikationen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046720" y="1371600"/>
            <a:ext cx="548640" cy="548640"/>
          </a:xfrm>
          <a:prstGeom prst="triangle">
            <a:avLst/>
          </a:prstGeom>
          <a:solidFill>
            <a:srgbClr val="FFC107"/>
          </a:solidFill>
          <a:ln w="25400"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38744" y="1508760"/>
            <a:ext cx="1645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</a:defRPr>
            </a:pPr>
            <a: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Wundinfektion: 2-8% (seltener bei laparoskopischem Zugang)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Intraabdomineller Abszess: 1-2%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Pneumonie: 0,5-2% (Atelektase als Vorstufe)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Risikofaktoren: Diabetes, Immunsuppression, lange OP-Dauer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Prävention: Perioperative Antibiotikaprophylaxe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Wichtig: Gewichtsadaptierte Antibiotikadosierung!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Antibiotika, Drainage, Wundpflege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5029200"/>
            <a:ext cx="1097280" cy="365760"/>
          </a:xfrm>
          <a:prstGeom prst="rect">
            <a:avLst/>
          </a:prstGeom>
          <a:solidFill>
            <a:srgbClr val="FFFFFF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4663440"/>
            <a:ext cx="365760" cy="1097280"/>
          </a:xfrm>
          <a:prstGeom prst="rect">
            <a:avLst/>
          </a:prstGeom>
          <a:solidFill>
            <a:srgbClr val="FFFFFF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Späte Komplikationen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Dumping-Syndrom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4114800" cy="47548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5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4114800" cy="47548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5293"/>
                </a:solidFill>
              </a:defRPr>
            </a:pPr>
            <a:r>
              <a:t>Frühdumping (15-30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Übelkeit, Erbrechen, Krämpfe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Diarrhoe, Blähungen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Schwitzen, Tachykardie, Flush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Hypotonie, Schwindel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Ursache: Osmotische Flüssigkeitsverschiebung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46304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3545"/>
                </a:solidFill>
              </a:defRPr>
            </a:pPr>
            <a:r>
              <a:t>Spätdumping (1-3 Stunden)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01168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Reaktive Hypoglykämie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Schwäche, Zittern, Hunger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Schweißausbrüche, Verwirrtheit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Konzentrationsstörungen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• Ursache: Überschießende Insulinsekretion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Management des Dumping-Syndroms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463040"/>
            <a:ext cx="822959" cy="329184"/>
          </a:xfrm>
          <a:prstGeom prst="roundRect">
            <a:avLst/>
          </a:prstGeom>
          <a:solidFill>
            <a:srgbClr val="64B464"/>
          </a:solidFill>
          <a:ln w="12700">
            <a:solidFill>
              <a:srgbClr val="3C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83879" y="1463040"/>
            <a:ext cx="411479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Prävalenz: 20-50% der Bypass-Patienten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Ernährungsmodifikation ist Therapie der ersten Wahl: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Kleine, häufige Mahlzeiten (5-6 pro Tag)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Reduktion von Einfachzuckern (&lt;15g pro Mahlzeit)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Trennung von Essen und Trinken (30 min Abstand)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Komplexe Kohlenhydrate und Proteine bevorzugen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Medikamentös: Acarbose 50-100mg zu Mahlzeiten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Therapierefraktär: Octreotid s.c. oder Pasireotid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5029200"/>
            <a:ext cx="1097280" cy="365760"/>
          </a:xfrm>
          <a:prstGeom prst="rect">
            <a:avLst/>
          </a:prstGeom>
          <a:solidFill>
            <a:srgbClr val="FFFFFF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4663440"/>
            <a:ext cx="365760" cy="1097280"/>
          </a:xfrm>
          <a:prstGeom prst="rect">
            <a:avLst/>
          </a:prstGeom>
          <a:solidFill>
            <a:srgbClr val="FFFFFF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Ernährungsbedingte Mangelzustände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Vitaminmangelzustände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463040"/>
            <a:ext cx="822959" cy="329184"/>
          </a:xfrm>
          <a:prstGeom prst="roundRect">
            <a:avLst/>
          </a:prstGeom>
          <a:solidFill>
            <a:srgbClr val="64B464"/>
          </a:solidFill>
          <a:ln w="12700">
            <a:solidFill>
              <a:srgbClr val="3C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83879" y="1463040"/>
            <a:ext cx="411479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Vitamin B12: 30-70% (fehlender Intrinsic-Faktor, Azidität)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1000µg i.m. monatlich oder 1000µg/d oral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Vitamin D: 50-80% (Malabsorption, adipöses Fettgewebe)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3000-6000 IE/d, Ziel: 25-OH-Vit D &gt;30 ng/ml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Folsäure: 15-35% → 400-800µg/d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Vitamin B1 (Thiamin): Cave: Wernicke-Enzephalopathie!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Bei Erbrechen: 100mg i.v. vor Glucose!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Vitamin A: 10-15% → Nachtblindheit als Frühzeichen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Mineralstoffmängel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463040"/>
            <a:ext cx="822959" cy="329184"/>
          </a:xfrm>
          <a:prstGeom prst="roundRect">
            <a:avLst/>
          </a:prstGeom>
          <a:solidFill>
            <a:srgbClr val="64B464"/>
          </a:solidFill>
          <a:ln w="12700">
            <a:solidFill>
              <a:srgbClr val="3C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83879" y="1463040"/>
            <a:ext cx="411479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Eisenmangel: 20-50% – häufigste Anämieursache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45-60mg elementares Eisen, getrennt von PPI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Kalziummangel: 10-25% → Osteoporose, Frakturen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1200-1500mg Calciumcitrat + Vitamin 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Zinkmangel: 10-40% → Haarausfall, Wundheilungsstörung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8-22mg/d, bei Mangel 25-50mg/d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Kupfermangel: Selten, aber schwere Myelopathie möglich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Regelmäßige Laborkontrollen alle 3-6 Monate essentiell!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Anastomosenstenose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1371600"/>
            <a:ext cx="438912" cy="219456"/>
          </a:xfrm>
          <a:prstGeom prst="roundRect">
            <a:avLst/>
          </a:prstGeom>
          <a:solidFill>
            <a:srgbClr val="FFC8B4"/>
          </a:solidFill>
          <a:ln w="12700">
            <a:solidFill>
              <a:srgbClr val="B4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1645920"/>
            <a:ext cx="438912" cy="219456"/>
          </a:xfrm>
          <a:prstGeom prst="roundRect">
            <a:avLst/>
          </a:prstGeom>
          <a:solidFill>
            <a:srgbClr val="FFC8B4"/>
          </a:solidFill>
          <a:ln w="12700">
            <a:solidFill>
              <a:srgbClr val="B4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79" y="1920240"/>
            <a:ext cx="438912" cy="219456"/>
          </a:xfrm>
          <a:prstGeom prst="roundRect">
            <a:avLst/>
          </a:prstGeom>
          <a:solidFill>
            <a:srgbClr val="FFC8B4"/>
          </a:solidFill>
          <a:ln w="12700">
            <a:solidFill>
              <a:srgbClr val="B4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17536" y="2194560"/>
            <a:ext cx="438912" cy="219456"/>
          </a:xfrm>
          <a:prstGeom prst="roundRect">
            <a:avLst/>
          </a:prstGeom>
          <a:solidFill>
            <a:srgbClr val="FFC8B4"/>
          </a:solidFill>
          <a:ln w="12700">
            <a:solidFill>
              <a:srgbClr val="B4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62671" y="1810512"/>
            <a:ext cx="137160" cy="13716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Inzidenz: 3-12% an der Gastrojejunostomie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Typische Präsentation: 4-8 Wochen postoperativ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Symptome: Progressive Dysphagie, Übelkeit, Erbrechen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Ursachen: Ischämie, Narbenbildung, Ulkus, Technik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Diagnose: ÖGD mit Strikturnachweis (&lt;10mm Lumen)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Endoskopische Ballondilatation (CRE-Ballon)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Prognose: 75% Erfolg nach 1-3 Dilatationen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Innere Hernien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046720" y="1371600"/>
            <a:ext cx="548640" cy="548640"/>
          </a:xfrm>
          <a:prstGeom prst="triangle">
            <a:avLst/>
          </a:prstGeom>
          <a:solidFill>
            <a:srgbClr val="FFC107"/>
          </a:solidFill>
          <a:ln w="25400"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38744" y="1508760"/>
            <a:ext cx="1645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</a:defRPr>
            </a:pPr>
            <a: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Inzidenz: 2-5% (häufiger bei laparoskopischem Bypass)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Typen: Petersen-Hernie, Mesenterialschlitz, JJ-Mesentery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Begünstigt durch Gewichtsverlust (weniger Mesenterfett)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Symptome: Intermittierende kolikartige Bauchschmerzen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Gefahr: Darminkarzeration → Ischämie → Nekrose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Diagnose: CT (Wirbelzeichen, geschwollenes Mesenterium)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Notfall-OP, meist laparoskopisch möglich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Marginalulzera (Anastomosenulzera)</a:t>
            </a:r>
          </a:p>
        </p:txBody>
      </p:sp>
      <p:sp>
        <p:nvSpPr>
          <p:cNvPr id="4" name="Oval 3"/>
          <p:cNvSpPr/>
          <p:nvPr/>
        </p:nvSpPr>
        <p:spPr>
          <a:xfrm>
            <a:off x="7132320" y="1645920"/>
            <a:ext cx="384048" cy="512063"/>
          </a:xfrm>
          <a:prstGeom prst="ellipse">
            <a:avLst/>
          </a:prstGeom>
          <a:solidFill>
            <a:srgbClr val="FFB6C1"/>
          </a:solidFill>
          <a:ln w="25400">
            <a:solidFill>
              <a:srgbClr val="B4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44383" y="1837944"/>
            <a:ext cx="640080" cy="896111"/>
          </a:xfrm>
          <a:prstGeom prst="ellipse">
            <a:avLst/>
          </a:prstGeom>
          <a:solidFill>
            <a:srgbClr val="C8C8C8"/>
          </a:solidFill>
          <a:ln w="1270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8332" y="2093976"/>
            <a:ext cx="192024" cy="960119"/>
          </a:xfrm>
          <a:prstGeom prst="roundRect">
            <a:avLst/>
          </a:prstGeom>
          <a:solidFill>
            <a:srgbClr val="FFDAB9"/>
          </a:solidFill>
          <a:ln w="12700">
            <a:solidFill>
              <a:srgbClr val="B4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670048"/>
            <a:ext cx="192024" cy="640080"/>
          </a:xfrm>
          <a:prstGeom prst="roundRect">
            <a:avLst/>
          </a:prstGeom>
          <a:solidFill>
            <a:srgbClr val="FFDAB9"/>
          </a:solidFill>
          <a:ln w="12700">
            <a:solidFill>
              <a:srgbClr val="B4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2990088"/>
            <a:ext cx="192024" cy="512063"/>
          </a:xfrm>
          <a:prstGeom prst="roundRect">
            <a:avLst/>
          </a:prstGeom>
          <a:solidFill>
            <a:srgbClr val="FFDAB9"/>
          </a:solidFill>
          <a:ln w="12700">
            <a:solidFill>
              <a:srgbClr val="B4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60336" y="2061972"/>
            <a:ext cx="128015" cy="128015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Inzidenz: 1-16% der Patienten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Lokalisation: Jejunale Seite der Gastrojejunostomie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Risikofaktoren: Rauchen (#1!), NSAR, H. pylori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Große Pouch, Ischämie, Fremdmaterial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Symptome: Epigastrische Schmerzen, GI-Blutung, Perforation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Diagnose: Ösophagogastroduodenoskopie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PPI 2x40mg, Rauchentwöhnung, H. pylori-Eradikation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Cholelithiasis nach Magenbypass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046720" y="1371600"/>
            <a:ext cx="548640" cy="548640"/>
          </a:xfrm>
          <a:prstGeom prst="triangle">
            <a:avLst/>
          </a:prstGeom>
          <a:solidFill>
            <a:srgbClr val="FFC107"/>
          </a:solidFill>
          <a:ln w="25400"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38744" y="1508760"/>
            <a:ext cx="1645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</a:defRPr>
            </a:pPr>
            <a: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Inzidenz: 30-40% entwickeln Gallensteine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Zeitraum: Vor allem in ersten 6-12 Monaten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Ursache: Schneller Gewichtsverlust → Cholesterinsättigung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Symptome: Rechtsseitige Oberbauchschmerzen, Koliken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Prävention: Ursodeoxycholsäure 600mg/d für 6 Monate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Therapie: Laparoskopische Cholezystektomie wenn symptomatisch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Kontrovers: Prophylaktische Cholezystektomie bei OP?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Psychologische Komplikationen</a:t>
            </a:r>
          </a:p>
        </p:txBody>
      </p:sp>
      <p:sp>
        <p:nvSpPr>
          <p:cNvPr id="4" name="Cloud 3"/>
          <p:cNvSpPr/>
          <p:nvPr/>
        </p:nvSpPr>
        <p:spPr>
          <a:xfrm>
            <a:off x="7863840" y="1371600"/>
            <a:ext cx="731520" cy="585216"/>
          </a:xfrm>
          <a:prstGeom prst="cloud">
            <a:avLst/>
          </a:prstGeom>
          <a:solidFill>
            <a:srgbClr val="FFB6C1"/>
          </a:solidFill>
          <a:ln w="12700">
            <a:solidFill>
              <a:srgbClr val="B46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Depression: Erhöhtes Risiko, besonders bei ausbleibendem Erfolg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Suchtverschiebung (Addiction Transfer):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Alkohol (beschleunigte Resorption!), Medikamente, Kaufsucht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Essstörungen: Binge Eating, Night Eating Syndrome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Beziehungsprobleme: 20% höhere Scheidungsrate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Suizidalität: 2-4x erhöhtes Risiko (Jahre 2-5 postop)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Prävention: Präoperatives Screening, lebenslange Begleitung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Prävention und Langzeitmanagement</a:t>
            </a:r>
          </a:p>
        </p:txBody>
      </p:sp>
      <p:sp>
        <p:nvSpPr>
          <p:cNvPr id="4" name="Oval 3"/>
          <p:cNvSpPr/>
          <p:nvPr/>
        </p:nvSpPr>
        <p:spPr>
          <a:xfrm>
            <a:off x="8138160" y="1371600"/>
            <a:ext cx="548640" cy="5486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1371600"/>
            <a:ext cx="38404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Präoperativ: Sorgfältige Patientenselektion und Edukation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Perioperativ: Thromboseprophylaxe, Antibiotika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Nachsorge: Strukturiertes Programm (lebenslang!)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   → 1., 3., 6. Monat, dann halbjährlich, dann jährlich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Laborkontrollen: BB, Eisen, B12, Folat, Ca, Vit D, PTH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Multivitamin-Supplementierung obligat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Interdisziplinäres Team essentiell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Zusammenfassung: Häufigkeiten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651760" cy="1828800"/>
          </a:xfrm>
          <a:prstGeom prst="round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1-5%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Anastomoseninsuffizienz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63040"/>
            <a:ext cx="2651760" cy="182880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7373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20-50%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Dumping-Syndrom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2651760" cy="18288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30-70%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Vitamin B12-Mangel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265176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2-5%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Innere Hernien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657600"/>
            <a:ext cx="2651760" cy="1828800"/>
          </a:xfrm>
          <a:prstGeom prst="round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393192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1-16%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663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Marginalulzera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57600"/>
            <a:ext cx="2651760" cy="182880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93192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30-40%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63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Gallensteine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Kernbotschaften</a:t>
            </a:r>
          </a:p>
        </p:txBody>
      </p:sp>
      <p:sp>
        <p:nvSpPr>
          <p:cNvPr id="4" name="Oval 3"/>
          <p:cNvSpPr/>
          <p:nvPr/>
        </p:nvSpPr>
        <p:spPr>
          <a:xfrm>
            <a:off x="8138160" y="1371600"/>
            <a:ext cx="548640" cy="5486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1371600"/>
            <a:ext cx="38404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Magenbypass ist effektiv, erfordert aber Vigilanz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Frühe Komplikationen: Tachykardie als Warnsignal!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Späte Komplikationen: Oft schleichend, regelmäßige Kontrollen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Nährstoffmängel sind häufig, aber gut behandelbar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Psychische Gesundheit nicht vergessen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Lebenslange Nachsorge ist unerlässlich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Interdisziplinäre Betreuung verbessert Outcomes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Vielen Dank für Ihre Aufmerksamkeit!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F"/>
                </a:solidFill>
              </a:defRPr>
            </a:pPr>
            <a:r>
              <a:t>Fragen und Diskussion</a:t>
            </a:r>
          </a:p>
        </p:txBody>
      </p:sp>
      <p:sp>
        <p:nvSpPr>
          <p:cNvPr id="5" name="Heart 4"/>
          <p:cNvSpPr/>
          <p:nvPr/>
        </p:nvSpPr>
        <p:spPr>
          <a:xfrm>
            <a:off x="4297680" y="5029200"/>
            <a:ext cx="548640" cy="548640"/>
          </a:xfrm>
          <a:prstGeom prst="hear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